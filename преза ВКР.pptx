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6256000" cy="9144000"/>
  <p:notesSz cx="9144000" cy="16256000"/>
  <p:embeddedFontLst>
    <p:embeddedFont>
      <p:font typeface="微软雅黑" panose="020B0503020204020204" pitchFamily="34" charset="-122"/>
      <p:regular r:id="rId21"/>
      <p:bold r:id="rId22"/>
    </p:embeddedFont>
    <p:embeddedFont>
      <p:font typeface="Quattrocento Sans" panose="020B0502050000020003" pitchFamily="34" charset="0"/>
      <p:regular r:id="rId23"/>
      <p:bold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12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65A5-1E22-8308-AB5D-CC4B0700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B8F40-E551-86AA-3304-4A066D09D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556D2-71C3-BC4E-258C-2C51FDED6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F7A5A-DC9F-BB27-9201-BD818E93C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19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16000" y="635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МТУСИ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286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16000" y="2540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веб-сайта для скрытия текстовых сообщений в изображениях с использованием стеганографических методов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318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16000" y="4826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Студент: Зорин Д.С. Руководитель: Рыбаков С.Ю.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270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БАС2201 · Выпускная квалификационная работа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71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г.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016000" y="635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51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16000" y="2032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171699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Актуальность работы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33147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Цели и задачи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064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016000" y="4318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459468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Алгоритмы встраивания и извлечения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5207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016000" y="5461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32000" y="5602467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 веб-сайта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6350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016000" y="6604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32000" y="6740166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качества скрытия и извлечения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048000" y="3937964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Актуальность работы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Актуальность исследования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16000" y="1460500"/>
            <a:ext cx="6858000" cy="3302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016000" y="14605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270000" y="17145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Рост конфиденциальных данных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Объём информации, передаваемой по открытым каналам, непрерывно растёт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Ограничения криптографии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Скрывает содержимое, но не факт передачи — провоцирует атаки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460500"/>
            <a:ext cx="6858000" cy="3302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8382000" y="14605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636000" y="1714500"/>
            <a:ext cx="635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Преимущества стеганографии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Скрывает сам факт передачи данных, встраивая сообщение в безобидный контейнер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Цифровые изображения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Идеальные контейнеры: высокая избыточность, ограниченная чувствительность глаза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000" y="5080000"/>
            <a:ext cx="14224000" cy="3175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397000" y="5270500"/>
            <a:ext cx="1346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Несмотря на обилие десктопных утилит, наблюдается недостаток доступных веб-инструментов, совмещающих образовательную наглядность и практическую применимость.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Решение: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Веб-сайт для скрытия текстовых сообщений в изображениях (PNG, BMP, WebP, JPEG) с простым интерфейсом, работающий прямо в браузере.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Объект: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процесс сокрытия и извлечения текстовой информации.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Предмет: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архитектура, алгоритмы и UI веб-сайта.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048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Цели и задачи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 работы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16000" y="1460500"/>
            <a:ext cx="14224000" cy="1016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397000" y="1587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Цель: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Разработать и реализовать функциональный веб-сайт, позволяющий пользователям скрывать текстовые сообщения в изображениях и извлекать их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17851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Задачи: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302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Анализ стеганографических методов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Определение требований к веб-приложению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Выбор технологического стека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Разработка архитектуры веб-сайта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Реализация стеганографических алгоритмов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Создание пользовательского интерфейса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Тестирование и оценка качества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302000"/>
            <a:ext cx="6858000" cy="4826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382000" y="33020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636000" y="355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Практическая значимость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4064000"/>
            <a:ext cx="635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Образовательные цели — демонстрация принципов стеганографии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Инструмент для безопасной передачи конфиденциальных данных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Основа для дальнейших исследований в области веб-стеганографии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048000" y="3937965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Алгоритмы встраивания и извлечения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Алгоритм</a:t>
            </a: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800" b="1" dirty="0" err="1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встраивания</a:t>
            </a:r>
            <a:r>
              <a:rPr lang="ru-RU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ДКП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8382000" y="1397000"/>
            <a:ext cx="6858000" cy="6858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8382000" y="1397000"/>
            <a:ext cx="6858000" cy="508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36000" y="1587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ДКП — дискретное косинусное преобразование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1968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JPEG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2349500"/>
            <a:ext cx="635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Разбиение на блоки 8×8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Двумерное ДКП (SciPy)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Выбор среднечастотных коэффициентов: (3,4), (4,3), (5,2)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Модификация с шагом Δ = 5.0: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бит 1 → q·Δ + Δ/2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бит 0 → q·Δ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Обратное ДКП + сохранение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Преимущества: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Устойчивость к пересжатию JPEG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PSNR 46.3 дБ, SSIM 0.9874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17</a:t>
            </a:r>
            <a:endParaRPr lang="en-US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F1CBAD-D6DA-0458-4811-073DEAC72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332" y="1184164"/>
            <a:ext cx="2301931" cy="77566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20227-8A4D-E29C-5131-F7CC2030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BA6BF6-3884-9BFC-529F-704D75A84ED8}"/>
              </a:ext>
            </a:extLst>
          </p:cNvPr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45A7C7-46C1-59F1-863F-086C9F0735DF}"/>
              </a:ext>
            </a:extLst>
          </p:cNvPr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 err="1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Алгоритм</a:t>
            </a: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800" b="1" dirty="0" err="1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встраивания</a:t>
            </a:r>
            <a:r>
              <a:rPr lang="ru-RU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НЗБ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FFD4F8-5D11-8CA9-82AD-42F67B64128E}"/>
              </a:ext>
            </a:extLst>
          </p:cNvPr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591BD4-9E41-B7A5-AA1F-5D101C2A4BF9}"/>
              </a:ext>
            </a:extLst>
          </p:cNvPr>
          <p:cNvSpPr/>
          <p:nvPr/>
        </p:nvSpPr>
        <p:spPr>
          <a:xfrm>
            <a:off x="1016000" y="1397000"/>
            <a:ext cx="6858000" cy="6858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8F02C34-8F76-B1E0-DC59-EE29F1F68EB3}"/>
              </a:ext>
            </a:extLst>
          </p:cNvPr>
          <p:cNvSpPr/>
          <p:nvPr/>
        </p:nvSpPr>
        <p:spPr>
          <a:xfrm>
            <a:off x="1016000" y="1397000"/>
            <a:ext cx="6858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12181E-E98C-3461-7ADB-B34E2FA06409}"/>
              </a:ext>
            </a:extLst>
          </p:cNvPr>
          <p:cNvSpPr/>
          <p:nvPr/>
        </p:nvSpPr>
        <p:spPr>
          <a:xfrm>
            <a:off x="1270000" y="1587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НЗБ с псевдослучайным обходом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670964-5266-2003-A500-76FD586DF23A}"/>
              </a:ext>
            </a:extLst>
          </p:cNvPr>
          <p:cNvSpPr/>
          <p:nvPr/>
        </p:nvSpPr>
        <p:spPr>
          <a:xfrm>
            <a:off x="1270000" y="19685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PNG, BMP, WebP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9686C6-AFBD-E28D-907F-58F5BC2C5F25}"/>
              </a:ext>
            </a:extLst>
          </p:cNvPr>
          <p:cNvSpPr/>
          <p:nvPr/>
        </p:nvSpPr>
        <p:spPr>
          <a:xfrm>
            <a:off x="1270000" y="2349500"/>
            <a:ext cx="635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Текст кодируется в UTF-8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Добавляется 5-байтовый маркер конца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Ключ хешируется SHA-256 → seed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Генерация псевдослучайных позиций пикселей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Замена младшего бита канала: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p' = (p &amp; 0xFE) | b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Сохранение в исходном формате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Преимущества: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PSNR 91-93 дБ, SSIM = 1.0000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Стойкость к стегоанализу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EBB490-F52A-741B-BCDD-B13E8365A507}"/>
              </a:ext>
            </a:extLst>
          </p:cNvPr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972F75-F612-8D6A-4245-E6D0DD02639B}"/>
              </a:ext>
            </a:extLst>
          </p:cNvPr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17</a:t>
            </a:r>
            <a:endParaRPr lang="en-US" sz="16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69B4810-A2FA-3139-B8FC-1C1EE2E73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465" y="1192168"/>
            <a:ext cx="2537409" cy="76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107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Алгоритм извлечения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16000" y="1524000"/>
            <a:ext cx="2794000" cy="1270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143000" y="1651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Загрузка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стегоизображения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318000" y="1524000"/>
            <a:ext cx="2794000" cy="1270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445000" y="1651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Определение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формата файла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12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620000" y="1524000"/>
            <a:ext cx="2794000" cy="12700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47000" y="1651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НЗБ: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чтение битов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 псевдослучайных позиций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2095500"/>
            <a:ext cx="508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10922000" y="1524000"/>
            <a:ext cx="2794000" cy="12700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1049000" y="1651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ДКП: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анализ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коэффициентов 8×8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192000" y="2794000"/>
            <a:ext cx="0" cy="50800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10922000" y="3302000"/>
            <a:ext cx="2794000" cy="1270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11049000" y="3429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маркера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конца сообщения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3937000"/>
            <a:ext cx="2286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842000" y="3302000"/>
            <a:ext cx="2794000" cy="1270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969000" y="3429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Декодирование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UTF-8 → текст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56000" y="3937000"/>
            <a:ext cx="2286000" cy="0"/>
          </a:xfrm>
          <a:prstGeom prst="straightConnector1">
            <a:avLst/>
          </a:prstGeom>
          <a:noFill/>
          <a:ln w="25400">
            <a:solidFill>
              <a:srgbClr val="455A64"/>
            </a:solidFill>
            <a:prstDash val="solid"/>
            <a:headEnd type="arrow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762000" y="3302000"/>
            <a:ext cx="2794000" cy="1270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889000" y="3429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Результат: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извлечённый текст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16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особенности реализации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778500"/>
            <a:ext cx="1422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Единый интерфейс: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все модули принимают файловый объект и текст, возвращают io.BytesIO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Надёжное определение конца: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5-байтовый маркер для НЗБ, двухбайтовый терминатор для JPEG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Отказоустойчивое декодирование: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UTF-8 → CP1251 → Latin-1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Работа в памяти: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BytesIO минимизирует операции записи на диск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048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 веб-сайта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 разработанного веб-сайта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16000" y="1397000"/>
            <a:ext cx="6858000" cy="33020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270000" y="152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Серверная часть (Flask)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19685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3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Фреймворк: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Flask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Библиотеки: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Pillow, NumPy, SciPy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Модули: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stegano_png, stegano_jpg, stegano_bmp, stegano_webp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/hide_text, /extract_text, /download, /upload_text_file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97000"/>
            <a:ext cx="6858000" cy="330200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636000" y="152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Клиентская часть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19685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семантическая структура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тёмная тема, адаптивный дизайн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ES6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Fetch API, drag &amp; drop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Функции: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загрузка изображений и TXT, предпросмотр, асинхронные запросы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2794000"/>
            <a:ext cx="508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016000" y="5016500"/>
            <a:ext cx="14224000" cy="889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270000" y="5143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Протоколы:</a:t>
            </a: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HTTP/1.1 (POST/GET) | </a:t>
            </a:r>
            <a:r>
              <a:rPr lang="en-US" sz="1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Формат данных:</a:t>
            </a: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JSON | </a:t>
            </a:r>
            <a:r>
              <a:rPr lang="en-US" sz="1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Кодировка:</a:t>
            </a: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UTF-8 | </a:t>
            </a:r>
            <a:r>
              <a:rPr lang="en-US" sz="1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Поддерживаемые форматы:</a:t>
            </a: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PNG, JPEG, BMP, WebP, TXT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22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Маршруты API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667500"/>
          <a:ext cx="14224000" cy="1651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Метод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Маршрут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Назначение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Параметры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/hide_text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Скрытие текста в изображении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image, text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/extract_text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Извлечение текста из изображения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image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/download/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Скачивание стегоизображения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filename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048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Оценка качества скрытия и извлечения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Визуальное качество и производительность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https://kimi-img.moonshot.cn/pub/slides/okc/eh7axcdpf7kfa/mnt/agents/output/vkr_presentation/images/quality_metrics.png"/>
          <p:cNvPicPr>
            <a:picLocks noChangeAspect="1"/>
          </p:cNvPicPr>
          <p:nvPr/>
        </p:nvPicPr>
        <p:blipFill>
          <a:blip r:embed="rId3"/>
          <a:srcRect t="-13713" b="-13713"/>
          <a:stretch/>
        </p:blipFill>
        <p:spPr>
          <a:xfrm>
            <a:off x="1016000" y="1333500"/>
            <a:ext cx="6858000" cy="4318000"/>
          </a:xfrm>
          <a:prstGeom prst="rect">
            <a:avLst/>
          </a:prstGeom>
        </p:spPr>
      </p:pic>
      <p:pic>
        <p:nvPicPr>
          <p:cNvPr id="8" name="Image 1" descr="https://kimi-img.moonshot.cn/pub/slides/okc/eh7axcdpf7kfa/mnt/agents/output/vkr_presentation/images/time_performance.png"/>
          <p:cNvPicPr>
            <a:picLocks noChangeAspect="1"/>
          </p:cNvPicPr>
          <p:nvPr/>
        </p:nvPicPr>
        <p:blipFill>
          <a:blip r:embed="rId4"/>
          <a:srcRect t="-4286" b="-4286"/>
          <a:stretch/>
        </p:blipFill>
        <p:spPr>
          <a:xfrm>
            <a:off x="8382000" y="1333500"/>
            <a:ext cx="6858000" cy="4318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16000" y="6540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1016000" y="6667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выводы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16000" y="7073900"/>
            <a:ext cx="1422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НЗБ-методы обеспечивают идеальное визуальное качество — стегоизображения полностью неотличимы от оригиналов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JPEG на основе ДКП показывает наилучшую скорость (~240 мс) при приемлемом качестве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WebP требует значительно больше времени из-за сжатия без потерь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Размер файла и устойчивость к сжатию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https://kimi-img.moonshot.cn/pub/slides/okc/eh7axcdpf7kfa/mnt/agents/output/vkr_presentation/images/size_and_mse.png"/>
          <p:cNvPicPr>
            <a:picLocks noChangeAspect="1"/>
          </p:cNvPicPr>
          <p:nvPr/>
        </p:nvPicPr>
        <p:blipFill>
          <a:blip r:embed="rId3"/>
          <a:srcRect t="-13713" b="-13713"/>
          <a:stretch/>
        </p:blipFill>
        <p:spPr>
          <a:xfrm>
            <a:off x="1016000" y="1333500"/>
            <a:ext cx="6858000" cy="4318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16000" y="64135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1016000" y="660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выводы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16000" y="70104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НЗБ-методы практически не влияют на размер файла (BMP 0%, PNG +5.8%)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JPEG увеличивает размер на 19.2% из-за модификации ДКП-коэффициентов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ДКП-метод устойчив к умеренному пересжатию (BER &lt; 0.1 при качестве &gt; 50%)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17</a:t>
            </a:r>
            <a:endParaRPr lang="en-US" sz="16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0ABB27B-6103-A94A-1FEA-4444CE941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2" y="1675012"/>
            <a:ext cx="6858000" cy="39764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Влияние длины сообщения и надежность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https://kimi-img.moonshot.cn/pub/slides/okc/eh7axcdpf7kfa/mnt/agents/output/vkr_presentation/images/message_length_impact.png"/>
          <p:cNvPicPr>
            <a:picLocks noChangeAspect="1"/>
          </p:cNvPicPr>
          <p:nvPr/>
        </p:nvPicPr>
        <p:blipFill>
          <a:blip r:embed="rId3"/>
          <a:srcRect t="-19947" b="-19947"/>
          <a:stretch/>
        </p:blipFill>
        <p:spPr>
          <a:xfrm>
            <a:off x="1016000" y="1333500"/>
            <a:ext cx="6858000" cy="3556000"/>
          </a:xfrm>
          <a:prstGeom prst="rect">
            <a:avLst/>
          </a:prstGeom>
        </p:spPr>
      </p:pic>
      <p:pic>
        <p:nvPicPr>
          <p:cNvPr id="8" name="Image 1" descr="https://kimi-img.moonshot.cn/pub/slides/okc/eh7axcdpf7kfa/mnt/agents/output/vkr_presentation/images/size_vs_length.png"/>
          <p:cNvPicPr>
            <a:picLocks noChangeAspect="1"/>
          </p:cNvPicPr>
          <p:nvPr/>
        </p:nvPicPr>
        <p:blipFill>
          <a:blip r:embed="rId4"/>
          <a:srcRect l="-6497" r="-6497"/>
          <a:stretch/>
        </p:blipFill>
        <p:spPr>
          <a:xfrm>
            <a:off x="8382000" y="1333500"/>
            <a:ext cx="6858000" cy="3556000"/>
          </a:xfrm>
          <a:prstGeom prst="rect">
            <a:avLst/>
          </a:prstGeom>
        </p:spPr>
      </p:pic>
      <p:pic>
        <p:nvPicPr>
          <p:cNvPr id="10" name="Image 2" descr="https://kimi-img.moonshot.cn/pub/slides/okc/eh7axcdpf7kfa/mnt/agents/output/vkr_presentation/images/success_analysis.png"/>
          <p:cNvPicPr>
            <a:picLocks noChangeAspect="1"/>
          </p:cNvPicPr>
          <p:nvPr/>
        </p:nvPicPr>
        <p:blipFill>
          <a:blip r:embed="rId5"/>
          <a:srcRect l="-30103" r="-30103"/>
          <a:stretch/>
        </p:blipFill>
        <p:spPr>
          <a:xfrm>
            <a:off x="1016000" y="5524500"/>
            <a:ext cx="14224000" cy="2540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160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0160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2700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Реализованные алгоритмы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НЗБ с псевдослучайным обходом для PNG, BMP, WebP. ДКП для JPEG. Поддержка 4 форматов изображений.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055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59055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1595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Результаты тестирования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192 теста, 100% надежность. PSNR &gt; 91 дБ (НЗБ), 46.3 дБ (JPEG). SSIM 1.0000 / 0.9874.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107950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10490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Веб-приложение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Клиент-серверная архитектура на Flask. Drag &amp; drop, адаптивный дизайн, UTF-8, работа в браузере.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016000" y="533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Направления дальнейшего развития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778500"/>
            <a:ext cx="1422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Добавление поддержки аудио- и видеоконтейнеров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Интеграция криптографического шифрования перед встраиванием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Реализация стегоаналитических инструментов для оценки стойкости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Исследование адаптивных методов встраивания на основе машинного обучения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0" y="422275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932</Words>
  <Application>Microsoft Office PowerPoint</Application>
  <PresentationFormat>Произвольный</PresentationFormat>
  <Paragraphs>180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QuattrocentoSans</vt:lpstr>
      <vt:lpstr>Quattrocento Sans</vt:lpstr>
      <vt:lpstr>微软雅黑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веб-сайта для скрытия текстовых сообщений в изображениях</dc:title>
  <dc:subject>Разработка веб-сайта для скрытия текстовых сообщений в изображениях</dc:subject>
  <dc:creator>Kimi</dc:creator>
  <cp:lastModifiedBy>дима зорин</cp:lastModifiedBy>
  <cp:revision>8</cp:revision>
  <dcterms:created xsi:type="dcterms:W3CDTF">2026-05-12T11:20:13Z</dcterms:created>
  <dcterms:modified xsi:type="dcterms:W3CDTF">2026-05-13T11:00:37Z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{"Label":"Разработка веб-сайта для скрытия текстовых сообщений в изображениях","ContentProducer":"001191110108MACG2KBH8F10000","ProduceID":"19e1be74-8ac2-874a-8000-00004394c14a","ReservedCode1":"","ContentPropagator":"001191110108MACG2KBH8F20000","PropagateID":"19e1be74-8ac2-874a-8000-00004394c14a","ReservedCode2":""}</vt:lpwstr>
  </property>
</Properties>
</file>