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4" r:id="rId10"/>
    <p:sldId id="264" r:id="rId11"/>
    <p:sldId id="265" r:id="rId12"/>
    <p:sldId id="266" r:id="rId13"/>
    <p:sldId id="275" r:id="rId14"/>
    <p:sldId id="276" r:id="rId15"/>
    <p:sldId id="267" r:id="rId16"/>
    <p:sldId id="268" r:id="rId17"/>
    <p:sldId id="269" r:id="rId18"/>
    <p:sldId id="270" r:id="rId19"/>
    <p:sldId id="271" r:id="rId20"/>
    <p:sldId id="272" r:id="rId21"/>
  </p:sldIdLst>
  <p:sldSz cx="16256000" cy="9144000"/>
  <p:notesSz cx="9144000" cy="16256000"/>
  <p:embeddedFontLst>
    <p:embeddedFont>
      <p:font typeface="微软雅黑" panose="020B0503020204020204" pitchFamily="34" charset="-122"/>
      <p:regular r:id="rId23"/>
      <p:bold r:id="rId24"/>
    </p:embeddedFont>
    <p:embeddedFont>
      <p:font typeface="Quattrocento Sans" panose="020B0502050000020003" pitchFamily="34" charset="0"/>
      <p:regular r:id="rId25"/>
      <p:bold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5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4123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E65A5-1E22-8308-AB5D-CC4B07005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0B8F40-E551-86AA-3304-4A066D09D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5556D2-71C3-BC4E-258C-2C51FDED6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F7A5A-DC9F-BB27-9201-BD818E93C9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7198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A26B-8499-C9D8-DB39-1E98021C9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9D194-95DA-DBAC-CFFE-27ECA8F1D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11F2E8-17B7-812D-8D09-66F6185FEF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C55C-B38E-7B3B-4157-5C53223634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3004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765E7-01DF-3AEF-8B31-679FEE264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B164D4-E4B1-5EE0-6E93-20087E4BB6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96D7C-6C16-DC34-1139-BF5F90E3C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2D28C-5B1B-A395-A431-DB3F0D3094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460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016000" y="635000"/>
            <a:ext cx="889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МТУСИ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6000" y="2286000"/>
            <a:ext cx="14224000" cy="0"/>
          </a:xfrm>
          <a:prstGeom prst="straightConnector1">
            <a:avLst/>
          </a:prstGeom>
          <a:noFill/>
          <a:ln w="127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016000" y="2540000"/>
            <a:ext cx="1422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600" b="1" dirty="0">
                <a:solidFill>
                  <a:srgbClr val="26323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Разработка веб-сайта для скрытия текстовых сообщений в изображениях с использованием стеганографических методов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16000" y="4318000"/>
            <a:ext cx="14224000" cy="0"/>
          </a:xfrm>
          <a:prstGeom prst="straightConnector1">
            <a:avLst/>
          </a:prstGeom>
          <a:noFill/>
          <a:ln w="127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1016000" y="4826000"/>
            <a:ext cx="762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Студент: Зорин Д.С. Руководитель: Рыбаков С.Ю.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000" y="5270500"/>
            <a:ext cx="762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БАС2201 · Выпускная квалификационная работа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16000" y="57150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2026 г.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016000" y="635000"/>
            <a:ext cx="3810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6323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Содержание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6000" y="1651000"/>
            <a:ext cx="14224000" cy="0"/>
          </a:xfrm>
          <a:prstGeom prst="straightConnector1">
            <a:avLst/>
          </a:prstGeom>
          <a:noFill/>
          <a:ln w="127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016000" y="2032000"/>
            <a:ext cx="8128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32000" y="2171699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6323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Актуальность работы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16000" y="2921000"/>
            <a:ext cx="14224000" cy="0"/>
          </a:xfrm>
          <a:prstGeom prst="straightConnector1">
            <a:avLst/>
          </a:prstGeom>
          <a:noFill/>
          <a:ln w="12700">
            <a:solidFill>
              <a:srgbClr val="ECEFF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1016000" y="3175000"/>
            <a:ext cx="8128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32000" y="33147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6323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Цели и задачи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16000" y="4064000"/>
            <a:ext cx="14224000" cy="0"/>
          </a:xfrm>
          <a:prstGeom prst="straightConnector1">
            <a:avLst/>
          </a:prstGeom>
          <a:noFill/>
          <a:ln w="12700">
            <a:solidFill>
              <a:srgbClr val="ECEFF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1016000" y="4318000"/>
            <a:ext cx="8128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032000" y="4459468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6323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Алгоритмы встраивания и извлечения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16000" y="5207000"/>
            <a:ext cx="14224000" cy="0"/>
          </a:xfrm>
          <a:prstGeom prst="straightConnector1">
            <a:avLst/>
          </a:prstGeom>
          <a:noFill/>
          <a:ln w="12700">
            <a:solidFill>
              <a:srgbClr val="ECEFF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1016000" y="5461000"/>
            <a:ext cx="8128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032000" y="5602467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6323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Архитектура веб-сайта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16000" y="6350000"/>
            <a:ext cx="14224000" cy="0"/>
          </a:xfrm>
          <a:prstGeom prst="straightConnector1">
            <a:avLst/>
          </a:prstGeom>
          <a:noFill/>
          <a:ln w="12700">
            <a:solidFill>
              <a:srgbClr val="ECEFF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1016000" y="6604000"/>
            <a:ext cx="8128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032000" y="6740166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6323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Оценка качества скрытия и извлечения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24"/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3048000" y="3937964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Актуальность работы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78E0AF69-3F76-9BE0-72FC-3F47C4977DCC}"/>
              </a:ext>
            </a:extLst>
          </p:cNvPr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16000" y="6350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Актуальность исследования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16000" y="1143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1016000" y="1460500"/>
            <a:ext cx="6858000" cy="33020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Shape 5"/>
          <p:cNvSpPr/>
          <p:nvPr/>
        </p:nvSpPr>
        <p:spPr>
          <a:xfrm>
            <a:off x="1016000" y="1460500"/>
            <a:ext cx="6858000" cy="508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1270000" y="1714500"/>
            <a:ext cx="6350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Рост конфиденциальных данных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600"/>
              </a:spcBef>
            </a:pP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Объём информации, передаваемой по открытым каналам, непрерывно растёт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Ограничения криптографии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600"/>
              </a:spcBef>
            </a:pP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Скрывает содержимое, но не факт передачи — провоцирует атаки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382000" y="1460500"/>
            <a:ext cx="6858000" cy="33020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8382000" y="1460500"/>
            <a:ext cx="6858000" cy="508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8636000" y="1714500"/>
            <a:ext cx="6350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Преимущества стеганографии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600"/>
              </a:spcBef>
            </a:pP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Скрывает сам факт передачи данных, встраивая сообщение в безобидный контейнер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Цифровые изображения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600"/>
              </a:spcBef>
            </a:pP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Идеальные контейнеры: высокая избыточность, ограниченная чувствительность глаза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16000" y="5080000"/>
            <a:ext cx="14224000" cy="31750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1397000" y="5270500"/>
            <a:ext cx="13462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Проблема:</a:t>
            </a: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Несмотря на обилие десктопных утилит, наблюдается недостаток доступных веб-инструментов, совмещающих образовательную наглядность и практическую применимость.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Решение:</a:t>
            </a: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Веб-сайт для скрытия текстовых сообщений в изображениях (PNG, BMP, WebP, JPEG) с простым интерфейсом, работающий прямо в браузере.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Объект:</a:t>
            </a: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процесс сокрытия и извлечения текстовой информации. </a:t>
            </a: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Предмет:</a:t>
            </a: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архитектура, алгоритмы и UI веб-сайта.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 /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3048000" y="3937000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Цели и задачи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E73BBC23-6E37-A47A-AF92-04C991C6D620}"/>
              </a:ext>
            </a:extLst>
          </p:cNvPr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16000" y="6350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Цель и задачи работы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16000" y="1143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1016000" y="1460500"/>
            <a:ext cx="14224000" cy="10160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1397000" y="1587500"/>
            <a:ext cx="134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Цель:</a:t>
            </a:r>
            <a:r>
              <a:rPr lang="en-US" sz="20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Разработать и реализовать функциональный веб-сайт, позволяющий пользователям скрывать текстовые сообщения в изображениях и извлекать их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3117851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Задачи: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000" y="3302000"/>
            <a:ext cx="6858000" cy="482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8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Анализ стеганографических методов</a:t>
            </a:r>
            <a:endParaRPr lang="en-US" sz="1800" dirty="0"/>
          </a:p>
          <a:p>
            <a:pPr>
              <a:lnSpc>
                <a:spcPct val="18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Определение требований к веб-приложению</a:t>
            </a:r>
            <a:endParaRPr lang="en-US" sz="1800" dirty="0"/>
          </a:p>
          <a:p>
            <a:pPr>
              <a:lnSpc>
                <a:spcPct val="18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Выбор технологического стека</a:t>
            </a:r>
            <a:endParaRPr lang="en-US" sz="1800" dirty="0"/>
          </a:p>
          <a:p>
            <a:pPr>
              <a:lnSpc>
                <a:spcPct val="18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4.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Разработка архитектуры веб-сайта</a:t>
            </a:r>
            <a:endParaRPr lang="en-US" sz="1800" dirty="0"/>
          </a:p>
          <a:p>
            <a:pPr>
              <a:lnSpc>
                <a:spcPct val="18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5.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Реализация стеганографических алгоритмов</a:t>
            </a:r>
            <a:endParaRPr lang="en-US" sz="1800" dirty="0"/>
          </a:p>
          <a:p>
            <a:pPr>
              <a:lnSpc>
                <a:spcPct val="18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6.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Создание пользовательского интерфейса</a:t>
            </a:r>
            <a:endParaRPr lang="en-US" sz="1800" dirty="0"/>
          </a:p>
          <a:p>
            <a:pPr>
              <a:lnSpc>
                <a:spcPct val="18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7.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Тестирование и оценка качества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82000" y="3302000"/>
            <a:ext cx="6858000" cy="48260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1" name="Shape 9"/>
          <p:cNvSpPr/>
          <p:nvPr/>
        </p:nvSpPr>
        <p:spPr>
          <a:xfrm>
            <a:off x="8382000" y="3302000"/>
            <a:ext cx="6858000" cy="508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8636000" y="35560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Практическая значимость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36000" y="4064000"/>
            <a:ext cx="635000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80000"/>
              </a:lnSpc>
            </a:pPr>
            <a:r>
              <a:rPr lang="en-US" sz="1800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●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Образовательные цели — демонстрация принципов стеганографии</a:t>
            </a:r>
            <a:endParaRPr lang="en-US" sz="1800" dirty="0"/>
          </a:p>
          <a:p>
            <a:pPr>
              <a:lnSpc>
                <a:spcPct val="18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●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Инструмент для безопасной передачи конфиденциальных данных</a:t>
            </a:r>
            <a:endParaRPr lang="en-US" sz="1800" dirty="0"/>
          </a:p>
          <a:p>
            <a:pPr>
              <a:lnSpc>
                <a:spcPct val="18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●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Основа для дальнейших исследований в области веб-стеганографии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06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3048000" y="3937965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Алгоритмы встраивания и извлечения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CEEA9877-82B8-44F9-85B5-10808C416FC1}"/>
              </a:ext>
            </a:extLst>
          </p:cNvPr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16000" y="6350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 err="1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Алгоритм</a:t>
            </a:r>
            <a:r>
              <a:rPr lang="en-US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2800" b="1" dirty="0" err="1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встраивания</a:t>
            </a:r>
            <a:r>
              <a:rPr lang="ru-RU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ДКП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16000" y="1143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1" name="Shape 9"/>
          <p:cNvSpPr/>
          <p:nvPr/>
        </p:nvSpPr>
        <p:spPr>
          <a:xfrm>
            <a:off x="8382000" y="1397000"/>
            <a:ext cx="6858000" cy="68580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2" name="Shape 10"/>
          <p:cNvSpPr/>
          <p:nvPr/>
        </p:nvSpPr>
        <p:spPr>
          <a:xfrm>
            <a:off x="8382000" y="1397000"/>
            <a:ext cx="6858000" cy="50800"/>
          </a:xfrm>
          <a:prstGeom prst="rect">
            <a:avLst/>
          </a:prstGeom>
          <a:solidFill>
            <a:srgbClr val="546E7A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8636000" y="1587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ДКП — дискретное косинусное преобразование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36000" y="1968500"/>
            <a:ext cx="635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JPEG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36000" y="2349500"/>
            <a:ext cx="6350000" cy="5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1.</a:t>
            </a: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Разбиение на блоки 8×8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2.</a:t>
            </a: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Двумерное ДКП (SciPy)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3.</a:t>
            </a: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Выбор среднечастотных коэффициентов: (3,4), (4,3), (5,2)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4.</a:t>
            </a: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Модификация с шагом Δ = 5.0: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бит 1 → q·Δ + Δ/2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бит 0 → q·Δ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5.</a:t>
            </a: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Обратное ДКП + сохранение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Преимущества: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Устойчивость к пересжатию JPEG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PSNR 46.3 дБ, SSIM 0.9874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08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4F1CBAD-D6DA-0458-4811-073DEAC72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332" y="1184164"/>
            <a:ext cx="2301931" cy="775663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20227-8A4D-E29C-5131-F7CC20307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3BA6BF6-3884-9BFC-529F-704D75A84ED8}"/>
              </a:ext>
            </a:extLst>
          </p:cNvPr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A45A7C7-46C1-59F1-863F-086C9F0735DF}"/>
              </a:ext>
            </a:extLst>
          </p:cNvPr>
          <p:cNvSpPr/>
          <p:nvPr/>
        </p:nvSpPr>
        <p:spPr>
          <a:xfrm>
            <a:off x="1016000" y="6350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 err="1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Алгоритм</a:t>
            </a:r>
            <a:r>
              <a:rPr lang="en-US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2800" b="1" dirty="0" err="1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встраивания</a:t>
            </a:r>
            <a:r>
              <a:rPr lang="ru-RU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НЗБ</a:t>
            </a:r>
            <a:endParaRPr lang="en-US" sz="28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DFFD4F8-5D11-8CA9-82AD-42F67B64128E}"/>
              </a:ext>
            </a:extLst>
          </p:cNvPr>
          <p:cNvSpPr/>
          <p:nvPr/>
        </p:nvSpPr>
        <p:spPr>
          <a:xfrm>
            <a:off x="1016000" y="1143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2591BD4-9E41-B7A5-AA1F-5D101C2A4BF9}"/>
              </a:ext>
            </a:extLst>
          </p:cNvPr>
          <p:cNvSpPr/>
          <p:nvPr/>
        </p:nvSpPr>
        <p:spPr>
          <a:xfrm>
            <a:off x="1016000" y="1397000"/>
            <a:ext cx="6858000" cy="68580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8F02C34-8F76-B1E0-DC59-EE29F1F68EB3}"/>
              </a:ext>
            </a:extLst>
          </p:cNvPr>
          <p:cNvSpPr/>
          <p:nvPr/>
        </p:nvSpPr>
        <p:spPr>
          <a:xfrm>
            <a:off x="1016000" y="1397000"/>
            <a:ext cx="6858000" cy="508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F12181E-E98C-3461-7ADB-B34E2FA06409}"/>
              </a:ext>
            </a:extLst>
          </p:cNvPr>
          <p:cNvSpPr/>
          <p:nvPr/>
        </p:nvSpPr>
        <p:spPr>
          <a:xfrm>
            <a:off x="1270000" y="1587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НЗБ с псевдослучайным обходом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F670964-5266-2003-A500-76FD586DF23A}"/>
              </a:ext>
            </a:extLst>
          </p:cNvPr>
          <p:cNvSpPr/>
          <p:nvPr/>
        </p:nvSpPr>
        <p:spPr>
          <a:xfrm>
            <a:off x="1270000" y="1968500"/>
            <a:ext cx="635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PNG, BMP, WebP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99686C6-AFBD-E28D-907F-58F5BC2C5F25}"/>
              </a:ext>
            </a:extLst>
          </p:cNvPr>
          <p:cNvSpPr/>
          <p:nvPr/>
        </p:nvSpPr>
        <p:spPr>
          <a:xfrm>
            <a:off x="1270000" y="2349500"/>
            <a:ext cx="6350000" cy="5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1.</a:t>
            </a: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Текст кодируется в UTF-8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2.</a:t>
            </a: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Добавляется 5-байтовый маркер конца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3.</a:t>
            </a: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Ключ хешируется SHA-256 → seed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4.</a:t>
            </a: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Генерация псевдослучайных позиций пикселей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5.</a:t>
            </a: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Замена младшего бита канала: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p' = (p &amp; 0xFE) | b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6.</a:t>
            </a: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Сохранение в исходном формате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Преимущества: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PSNR 91-93 дБ, SSIM = 1.0000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Стойкость к стегоанализу</a:t>
            </a:r>
            <a:endParaRPr lang="en-US" sz="18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DEBB490-F52A-741B-BCDD-B13E8365A507}"/>
              </a:ext>
            </a:extLst>
          </p:cNvPr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1972F75-F612-8D6A-4245-E6D0DD02639B}"/>
              </a:ext>
            </a:extLst>
          </p:cNvPr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69B4810-A2FA-3139-B8FC-1C1EE2E73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9465" y="1192168"/>
            <a:ext cx="2537409" cy="767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61074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16000" y="6350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Алгоритм извлечения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16000" y="1143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1016000" y="1524000"/>
            <a:ext cx="2794000" cy="12700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1143000" y="1651000"/>
            <a:ext cx="254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Загрузка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стегоизображения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10000" y="2095500"/>
            <a:ext cx="508000" cy="0"/>
          </a:xfrm>
          <a:prstGeom prst="straightConnector1">
            <a:avLst/>
          </a:prstGeom>
          <a:noFill/>
          <a:ln w="25400">
            <a:solidFill>
              <a:srgbClr val="455A64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4318000" y="1524000"/>
            <a:ext cx="2794000" cy="12700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4445000" y="1651000"/>
            <a:ext cx="254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Определение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формата файла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112000" y="2095500"/>
            <a:ext cx="508000" cy="0"/>
          </a:xfrm>
          <a:prstGeom prst="straightConnector1">
            <a:avLst/>
          </a:prstGeom>
          <a:noFill/>
          <a:ln w="25400">
            <a:solidFill>
              <a:srgbClr val="455A64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ru-RU"/>
          </a:p>
        </p:txBody>
      </p:sp>
      <p:sp>
        <p:nvSpPr>
          <p:cNvPr id="12" name="Shape 10"/>
          <p:cNvSpPr/>
          <p:nvPr/>
        </p:nvSpPr>
        <p:spPr>
          <a:xfrm>
            <a:off x="7620000" y="1524000"/>
            <a:ext cx="2794000" cy="1270000"/>
          </a:xfrm>
          <a:prstGeom prst="rect">
            <a:avLst/>
          </a:prstGeom>
          <a:solidFill>
            <a:srgbClr val="546E7A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7747000" y="1651000"/>
            <a:ext cx="254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НЗБ: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чтение битов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из псевдослучайных позиций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14000" y="2095500"/>
            <a:ext cx="508000" cy="0"/>
          </a:xfrm>
          <a:prstGeom prst="straightConnector1">
            <a:avLst/>
          </a:prstGeom>
          <a:noFill/>
          <a:ln w="25400">
            <a:solidFill>
              <a:srgbClr val="455A64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ru-RU"/>
          </a:p>
        </p:txBody>
      </p:sp>
      <p:sp>
        <p:nvSpPr>
          <p:cNvPr id="15" name="Shape 13"/>
          <p:cNvSpPr/>
          <p:nvPr/>
        </p:nvSpPr>
        <p:spPr>
          <a:xfrm>
            <a:off x="10922000" y="1524000"/>
            <a:ext cx="2794000" cy="1270000"/>
          </a:xfrm>
          <a:prstGeom prst="rect">
            <a:avLst/>
          </a:prstGeom>
          <a:solidFill>
            <a:srgbClr val="546E7A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11049000" y="1651000"/>
            <a:ext cx="254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ДКП: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анализ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коэффициентов 8×8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2192000" y="2794000"/>
            <a:ext cx="0" cy="508000"/>
          </a:xfrm>
          <a:prstGeom prst="straightConnector1">
            <a:avLst/>
          </a:prstGeom>
          <a:noFill/>
          <a:ln w="25400">
            <a:solidFill>
              <a:srgbClr val="455A64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10922000" y="3302000"/>
            <a:ext cx="2794000" cy="12700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11049000" y="3429000"/>
            <a:ext cx="254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Поиск маркера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конца сообщения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636000" y="3937000"/>
            <a:ext cx="2286000" cy="0"/>
          </a:xfrm>
          <a:prstGeom prst="straightConnector1">
            <a:avLst/>
          </a:prstGeom>
          <a:noFill/>
          <a:ln w="25400">
            <a:solidFill>
              <a:srgbClr val="455A64"/>
            </a:solidFill>
            <a:prstDash val="solid"/>
            <a:headEnd type="arrow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21" name="Shape 19"/>
          <p:cNvSpPr/>
          <p:nvPr/>
        </p:nvSpPr>
        <p:spPr>
          <a:xfrm>
            <a:off x="5842000" y="3302000"/>
            <a:ext cx="2794000" cy="12700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5969000" y="3429000"/>
            <a:ext cx="254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Декодирование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UTF-8 → текст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556000" y="3937000"/>
            <a:ext cx="2286000" cy="0"/>
          </a:xfrm>
          <a:prstGeom prst="straightConnector1">
            <a:avLst/>
          </a:prstGeom>
          <a:noFill/>
          <a:ln w="25400">
            <a:solidFill>
              <a:srgbClr val="455A64"/>
            </a:solidFill>
            <a:prstDash val="solid"/>
            <a:headEnd type="arrow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24" name="Shape 22"/>
          <p:cNvSpPr/>
          <p:nvPr/>
        </p:nvSpPr>
        <p:spPr>
          <a:xfrm>
            <a:off x="762000" y="3302000"/>
            <a:ext cx="2794000" cy="12700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889000" y="3429000"/>
            <a:ext cx="254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Результат: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извлечённый текст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016000" y="5080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1016000" y="53340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Ключевые особенности реализации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16000" y="5778500"/>
            <a:ext cx="1422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Единый интерфейс: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все модули принимают файловый объект и текст, возвращают io.BytesIO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Надёжное определение конца: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5-байтовый маркер для НЗБ, двухбайтовый терминатор для JPEG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Отказоустойчивое декодирование: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UTF-8 → CP1251 → Latin-1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Работа в памяти: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BytesIO минимизирует операции записи на диск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8"/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3048000" y="3937000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Архитектура веб-сайта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3B406556-2B48-BD29-8201-12273AEBA9EC}"/>
              </a:ext>
            </a:extLst>
          </p:cNvPr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11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16000" y="6350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Архитектура разработанного веб-сайта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16000" y="1143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1016000" y="1397000"/>
            <a:ext cx="6858000" cy="33020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1270000" y="15240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Серверная часть (Flask)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70000" y="1968500"/>
            <a:ext cx="6350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Язык: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Python 3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Фреймворк: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Flask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Библиотеки: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Pillow, NumPy, SciPy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Модули: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stegano_png, stegano_jpg, stegano_bmp, stegano_webp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API: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/hide_text, /extract_text, /download, /upload_text_file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82000" y="1397000"/>
            <a:ext cx="6858000" cy="3302000"/>
          </a:xfrm>
          <a:prstGeom prst="rect">
            <a:avLst/>
          </a:prstGeom>
          <a:solidFill>
            <a:srgbClr val="546E7A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8636000" y="15240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Клиентская часть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36000" y="1968500"/>
            <a:ext cx="6350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HTML5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семантическая структура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CSS3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тёмная тема, адаптивный дизайн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JavaScript ES6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Fetch API, drag &amp; drop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Функции: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загрузка изображений и TXT, предпросмотр, асинхронные запросы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874000" y="2794000"/>
            <a:ext cx="508000" cy="0"/>
          </a:xfrm>
          <a:prstGeom prst="straightConnector1">
            <a:avLst/>
          </a:prstGeom>
          <a:noFill/>
          <a:ln w="25400">
            <a:solidFill>
              <a:srgbClr val="90A4AE"/>
            </a:solidFill>
            <a:prstDash val="solid"/>
            <a:headEnd type="arrow"/>
            <a:tailEnd type="arrow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1016000" y="5016500"/>
            <a:ext cx="14224000" cy="8890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1270000" y="5143500"/>
            <a:ext cx="13716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rgbClr val="3747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Протоколы:</a:t>
            </a:r>
            <a:r>
              <a:rPr lang="en-US" sz="1600" dirty="0">
                <a:solidFill>
                  <a:srgbClr val="3747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HTTP/1.1 (POST/GET) | </a:t>
            </a:r>
            <a:r>
              <a:rPr lang="en-US" sz="1600" b="1" dirty="0">
                <a:solidFill>
                  <a:srgbClr val="3747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Формат данных:</a:t>
            </a:r>
            <a:r>
              <a:rPr lang="en-US" sz="1600" dirty="0">
                <a:solidFill>
                  <a:srgbClr val="3747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JSON | </a:t>
            </a:r>
            <a:r>
              <a:rPr lang="en-US" sz="1600" b="1" dirty="0">
                <a:solidFill>
                  <a:srgbClr val="3747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Кодировка:</a:t>
            </a:r>
            <a:r>
              <a:rPr lang="en-US" sz="1600" dirty="0">
                <a:solidFill>
                  <a:srgbClr val="3747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UTF-8 | </a:t>
            </a:r>
            <a:r>
              <a:rPr lang="en-US" sz="1600" b="1" dirty="0">
                <a:solidFill>
                  <a:srgbClr val="3747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Поддерживаемые форматы:</a:t>
            </a:r>
            <a:r>
              <a:rPr lang="en-US" sz="1600" dirty="0">
                <a:solidFill>
                  <a:srgbClr val="3747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PNG, JPEG, BMP, WebP, TXT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16000" y="6223000"/>
            <a:ext cx="381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Маршруты API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16000" y="6667500"/>
          <a:ext cx="14224000" cy="1651000"/>
        </p:xfrm>
        <a:graphic>
          <a:graphicData uri="http://schemas.openxmlformats.org/drawingml/2006/table">
            <a:tbl>
              <a:tblPr/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7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Метод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5A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Маршрут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5A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Назначение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5A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Параметры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5A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/hide_text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Скрытие текста в изображении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image, text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/extract_text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Извлечение текста из изображения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image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GET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/download/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Скачивание стегоизображения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filename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5"/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323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4FAB20-FC9F-A67A-E89F-43807CC8C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F7F6F64-7E9D-9C1F-8D6F-0F9F719A0AC1}"/>
              </a:ext>
            </a:extLst>
          </p:cNvPr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E087F8-F215-311A-96B5-4FEC0BF97DE9}"/>
              </a:ext>
            </a:extLst>
          </p:cNvPr>
          <p:cNvSpPr/>
          <p:nvPr/>
        </p:nvSpPr>
        <p:spPr>
          <a:xfrm>
            <a:off x="3048000" y="3937000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ru-RU" sz="3600" b="1" dirty="0">
                <a:solidFill>
                  <a:srgbClr val="FFFFFF"/>
                </a:solidFill>
              </a:rPr>
              <a:t>Внешний вид сайта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9897FBF-C6FA-A278-826A-47846828673B}"/>
              </a:ext>
            </a:extLst>
          </p:cNvPr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9A8CE315-06A2-9E06-62EE-943AE205F996}"/>
              </a:ext>
            </a:extLst>
          </p:cNvPr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13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6083134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50ED24-F2CC-3684-2921-2D349E942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BBB2F3-AC6E-E51A-2731-0AC26DA79A07}"/>
              </a:ext>
            </a:extLst>
          </p:cNvPr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98E6503-A179-2EDF-0A85-51D7FFF1D318}"/>
              </a:ext>
            </a:extLst>
          </p:cNvPr>
          <p:cNvSpPr/>
          <p:nvPr/>
        </p:nvSpPr>
        <p:spPr>
          <a:xfrm>
            <a:off x="1016000" y="6350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Внешний вид сайта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BC2A275-6946-C9B6-FCE4-76D2EDCE6256}"/>
              </a:ext>
            </a:extLst>
          </p:cNvPr>
          <p:cNvSpPr/>
          <p:nvPr/>
        </p:nvSpPr>
        <p:spPr>
          <a:xfrm>
            <a:off x="1016000" y="1143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53E4658D-CCC8-6A50-D99A-23C81DB2B47C}"/>
              </a:ext>
            </a:extLst>
          </p:cNvPr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B52FC5-7A55-2D6C-FEEA-A69B5AAF531C}"/>
              </a:ext>
            </a:extLst>
          </p:cNvPr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E2A27D8-8F71-3DDE-7697-54B4CD706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334" y="1295401"/>
            <a:ext cx="12863332" cy="7235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107197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3048000" y="3937000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Оценка качества скрытия и извлечения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90A4A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11D0F1EA-60B1-CC41-3063-9BC39F587C43}"/>
              </a:ext>
            </a:extLst>
          </p:cNvPr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15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16000" y="635000"/>
            <a:ext cx="1143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Визуальное качество и производительность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16000" y="1143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pic>
        <p:nvPicPr>
          <p:cNvPr id="6" name="Image 0" descr="https://kimi-img.moonshot.cn/pub/slides/okc/eh7axcdpf7kfa/mnt/agents/output/vkr_presentation/images/quality_metrics.png"/>
          <p:cNvPicPr>
            <a:picLocks noChangeAspect="1"/>
          </p:cNvPicPr>
          <p:nvPr/>
        </p:nvPicPr>
        <p:blipFill>
          <a:blip r:embed="rId3"/>
          <a:srcRect t="-13713" b="-13713"/>
          <a:stretch/>
        </p:blipFill>
        <p:spPr>
          <a:xfrm>
            <a:off x="1016000" y="1333500"/>
            <a:ext cx="6858000" cy="4318000"/>
          </a:xfrm>
          <a:prstGeom prst="rect">
            <a:avLst/>
          </a:prstGeom>
        </p:spPr>
      </p:pic>
      <p:pic>
        <p:nvPicPr>
          <p:cNvPr id="8" name="Image 1" descr="https://kimi-img.moonshot.cn/pub/slides/okc/eh7axcdpf7kfa/mnt/agents/output/vkr_presentation/images/time_performance.png"/>
          <p:cNvPicPr>
            <a:picLocks noChangeAspect="1"/>
          </p:cNvPicPr>
          <p:nvPr/>
        </p:nvPicPr>
        <p:blipFill>
          <a:blip r:embed="rId4"/>
          <a:srcRect t="-4286" b="-4286"/>
          <a:stretch/>
        </p:blipFill>
        <p:spPr>
          <a:xfrm>
            <a:off x="8382000" y="1333500"/>
            <a:ext cx="6858000" cy="43180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016000" y="65405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7"/>
          <p:cNvSpPr/>
          <p:nvPr/>
        </p:nvSpPr>
        <p:spPr>
          <a:xfrm>
            <a:off x="1016000" y="6667500"/>
            <a:ext cx="381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Ключевые выводы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016000" y="7073900"/>
            <a:ext cx="14224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НЗБ-методы обеспечивают идеальное визуальное качество — стегоизображения полностью неотличимы от оригиналов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JPEG на основе ДКП показывает наилучшую скорость (~240 мс) при приемлемом качестве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WebP требует значительно больше времени из-за сжатия без потерь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0"/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16000" y="635000"/>
            <a:ext cx="1143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Размер файла и устойчивость к сжатию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16000" y="1143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pic>
        <p:nvPicPr>
          <p:cNvPr id="6" name="Image 0" descr="https://kimi-img.moonshot.cn/pub/slides/okc/eh7axcdpf7kfa/mnt/agents/output/vkr_presentation/images/size_and_mse.png"/>
          <p:cNvPicPr>
            <a:picLocks noChangeAspect="1"/>
          </p:cNvPicPr>
          <p:nvPr/>
        </p:nvPicPr>
        <p:blipFill>
          <a:blip r:embed="rId3"/>
          <a:srcRect t="-13713" b="-13713"/>
          <a:stretch/>
        </p:blipFill>
        <p:spPr>
          <a:xfrm>
            <a:off x="1016000" y="1333500"/>
            <a:ext cx="6858000" cy="43180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016000" y="64135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7"/>
          <p:cNvSpPr/>
          <p:nvPr/>
        </p:nvSpPr>
        <p:spPr>
          <a:xfrm>
            <a:off x="1016000" y="6604000"/>
            <a:ext cx="381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Ключевые выводы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016000" y="7010400"/>
            <a:ext cx="1422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НЗБ-методы практически не влияют на размер файла (BMP 0%, PNG +5.8%)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JPEG увеличивает размер на 19.2% из-за модификации ДКП-коэффициентов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ДКП-метод устойчив к умеренному пересжатию (BER &lt; 0.1 при качестве &gt; 50%)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0"/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0ABB27B-6103-A94A-1FEA-4444CE9413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2" y="1675012"/>
            <a:ext cx="6858000" cy="3976488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16000" y="635000"/>
            <a:ext cx="1143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Влияние длины сообщения и надежность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16000" y="1143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pic>
        <p:nvPicPr>
          <p:cNvPr id="6" name="Image 0" descr="https://kimi-img.moonshot.cn/pub/slides/okc/eh7axcdpf7kfa/mnt/agents/output/vkr_presentation/images/message_length_impact.png"/>
          <p:cNvPicPr>
            <a:picLocks noChangeAspect="1"/>
          </p:cNvPicPr>
          <p:nvPr/>
        </p:nvPicPr>
        <p:blipFill>
          <a:blip r:embed="rId3"/>
          <a:srcRect t="-19947" b="-19947"/>
          <a:stretch/>
        </p:blipFill>
        <p:spPr>
          <a:xfrm>
            <a:off x="1016000" y="1333500"/>
            <a:ext cx="6858000" cy="3556000"/>
          </a:xfrm>
          <a:prstGeom prst="rect">
            <a:avLst/>
          </a:prstGeom>
        </p:spPr>
      </p:pic>
      <p:pic>
        <p:nvPicPr>
          <p:cNvPr id="8" name="Image 1" descr="https://kimi-img.moonshot.cn/pub/slides/okc/eh7axcdpf7kfa/mnt/agents/output/vkr_presentation/images/size_vs_length.png"/>
          <p:cNvPicPr>
            <a:picLocks noChangeAspect="1"/>
          </p:cNvPicPr>
          <p:nvPr/>
        </p:nvPicPr>
        <p:blipFill>
          <a:blip r:embed="rId4"/>
          <a:srcRect l="-6497" r="-6497"/>
          <a:stretch/>
        </p:blipFill>
        <p:spPr>
          <a:xfrm>
            <a:off x="8382000" y="1333500"/>
            <a:ext cx="6858000" cy="3556000"/>
          </a:xfrm>
          <a:prstGeom prst="rect">
            <a:avLst/>
          </a:prstGeom>
        </p:spPr>
      </p:pic>
      <p:pic>
        <p:nvPicPr>
          <p:cNvPr id="10" name="Image 2" descr="https://kimi-img.moonshot.cn/pub/slides/okc/eh7axcdpf7kfa/mnt/agents/output/vkr_presentation/images/success_analysis.png"/>
          <p:cNvPicPr>
            <a:picLocks noChangeAspect="1"/>
          </p:cNvPicPr>
          <p:nvPr/>
        </p:nvPicPr>
        <p:blipFill>
          <a:blip r:embed="rId5"/>
          <a:srcRect l="-30103" r="-30103"/>
          <a:stretch/>
        </p:blipFill>
        <p:spPr>
          <a:xfrm>
            <a:off x="1016000" y="5524500"/>
            <a:ext cx="14224000" cy="25400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8"/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16000" y="6350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455A6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Заключение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16000" y="1143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1016000" y="1460500"/>
            <a:ext cx="4445000" cy="33020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Shape 5"/>
          <p:cNvSpPr/>
          <p:nvPr/>
        </p:nvSpPr>
        <p:spPr>
          <a:xfrm>
            <a:off x="1016000" y="1460500"/>
            <a:ext cx="4445000" cy="508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1270000" y="1714500"/>
            <a:ext cx="76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70000" y="2159000"/>
            <a:ext cx="3937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Реализованные алгоритмы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70000" y="2578100"/>
            <a:ext cx="39370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НЗБ с псевдослучайным обходом для PNG, BMP, WebP. ДКП для JPEG. Поддержка 4 форматов изображений.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905500" y="1460500"/>
            <a:ext cx="4445000" cy="33020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2" name="Shape 10"/>
          <p:cNvSpPr/>
          <p:nvPr/>
        </p:nvSpPr>
        <p:spPr>
          <a:xfrm>
            <a:off x="5905500" y="1460500"/>
            <a:ext cx="4445000" cy="508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6159500" y="1714500"/>
            <a:ext cx="76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59500" y="2159000"/>
            <a:ext cx="3937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Результаты тестирования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59500" y="2578100"/>
            <a:ext cx="39370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192 теста, 100% надежность. PSNR &gt; 91 дБ (НЗБ), 46.3 дБ (JPEG). SSIM 1.0000 / 0.9874.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795000" y="1460500"/>
            <a:ext cx="4445000" cy="33020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10795000" y="1460500"/>
            <a:ext cx="4445000" cy="50800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11049000" y="1714500"/>
            <a:ext cx="76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049000" y="2159000"/>
            <a:ext cx="3937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Веб-приложение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049000" y="2578100"/>
            <a:ext cx="39370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Клиент-серверная архитектура на Flask. Drag &amp; drop, адаптивный дизайн, UTF-8, работа в браузере.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16000" y="5080000"/>
            <a:ext cx="14224000" cy="0"/>
          </a:xfrm>
          <a:prstGeom prst="straightConnector1">
            <a:avLst/>
          </a:prstGeom>
          <a:noFill/>
          <a:ln w="12700">
            <a:solidFill>
              <a:srgbClr val="CFD8D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1016000" y="53340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455A6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Направления дальнейшего развития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16000" y="5778500"/>
            <a:ext cx="1422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8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Добавление поддержки аудио- и видеоконтейнеров</a:t>
            </a:r>
            <a:endParaRPr lang="en-US" sz="1800" dirty="0"/>
          </a:p>
          <a:p>
            <a:pPr>
              <a:lnSpc>
                <a:spcPct val="18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Интеграция криптографического шифрования перед встраиванием</a:t>
            </a:r>
            <a:endParaRPr lang="en-US" sz="1800" dirty="0"/>
          </a:p>
          <a:p>
            <a:pPr>
              <a:lnSpc>
                <a:spcPct val="18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Реализация стегоаналитических инструментов для оценки стойкости</a:t>
            </a:r>
            <a:endParaRPr lang="en-US" sz="1800" dirty="0"/>
          </a:p>
          <a:p>
            <a:pPr>
              <a:lnSpc>
                <a:spcPct val="180000"/>
              </a:lnSpc>
            </a:pPr>
            <a:r>
              <a:rPr lang="en-US" sz="1800" b="1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4.</a:t>
            </a:r>
            <a:r>
              <a:rPr lang="en-US" sz="1800" dirty="0">
                <a:solidFill>
                  <a:srgbClr val="37474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Исследование адаптивных методов встраивания на основе машинного обучения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9093200"/>
            <a:ext cx="16256000" cy="0"/>
          </a:xfrm>
          <a:prstGeom prst="straightConnector1">
            <a:avLst/>
          </a:prstGeom>
          <a:noFill/>
          <a:ln w="50800">
            <a:solidFill>
              <a:srgbClr val="455A6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048000" y="4222750"/>
            <a:ext cx="10160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Спасибо за внимание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05000" y="86360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r>
              <a:rPr lang="en-US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/ </a:t>
            </a:r>
            <a:r>
              <a:rPr lang="ru-RU" sz="1400" dirty="0">
                <a:solidFill>
                  <a:srgbClr val="90A4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969</Words>
  <Application>Microsoft Office PowerPoint</Application>
  <PresentationFormat>Произвольный</PresentationFormat>
  <Paragraphs>191</Paragraphs>
  <Slides>20</Slides>
  <Notes>20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Quattrocento Sans</vt:lpstr>
      <vt:lpstr>微软雅黑</vt:lpstr>
      <vt:lpstr>Arial</vt:lpstr>
      <vt:lpstr>QuattrocentoSans</vt:lpstr>
      <vt:lpstr>Custom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веб-сайта для скрытия текстовых сообщений в изображениях</dc:title>
  <dc:subject>Разработка веб-сайта для скрытия текстовых сообщений в изображениях</dc:subject>
  <dc:creator>Kimi</dc:creator>
  <cp:lastModifiedBy>дима зорин</cp:lastModifiedBy>
  <cp:revision>11</cp:revision>
  <dcterms:created xsi:type="dcterms:W3CDTF">2026-05-12T11:20:13Z</dcterms:created>
  <dcterms:modified xsi:type="dcterms:W3CDTF">2026-05-14T10:44:35Z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{"Label":"Разработка веб-сайта для скрытия текстовых сообщений в изображениях","ContentProducer":"001191110108MACG2KBH8F10000","ProduceID":"19e1be74-8ac2-874a-8000-00004394c14a","ReservedCode1":"","ContentPropagator":"001191110108MACG2KBH8F20000","PropagateID":"19e1be74-8ac2-874a-8000-00004394c14a","ReservedCode2":""}</vt:lpwstr>
  </property>
</Properties>
</file>